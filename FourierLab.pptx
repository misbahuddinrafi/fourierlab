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46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842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9875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CSE 220 · Signals and Linear Systems Sessional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7464" y="1241700"/>
            <a:ext cx="52303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Fourier</a:t>
            </a:r>
            <a:r>
              <a:rPr lang="en-US" sz="6000" b="1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59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Exploring Signals in the Frequency Domain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798064"/>
            <a:ext cx="4023360" cy="0"/>
          </a:xfrm>
          <a:prstGeom prst="line">
            <a:avLst/>
          </a:prstGeom>
          <a:noFill/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594360" y="29077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Maskat Rahman</a:t>
            </a:r>
            <a:r>
              <a:rPr lang="en-US" sz="105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	2305066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638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Md. Misbah Uddin Rafi</a:t>
            </a:r>
            <a:r>
              <a:rPr lang="en-US" sz="105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	2305069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74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Supervisor: Md. Ashrafur Rahman Khan · Lecturer, CSE, BUET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743200" cy="804672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45720" cy="804672"/>
          </a:xfrm>
          <a:prstGeom prst="rect">
            <a:avLst/>
          </a:prstGeom>
          <a:solidFill>
            <a:srgbClr val="59C9F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 txBox="1"/>
          <p:nvPr/>
        </p:nvSpPr>
        <p:spPr>
          <a:xfrm>
            <a:off x="6108192" y="1298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Audio Lab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16093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STFT · Time-Frequency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267712"/>
            <a:ext cx="2743200" cy="804672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5943600" y="2267712"/>
            <a:ext cx="45720" cy="804672"/>
          </a:xfrm>
          <a:prstGeom prst="rect">
            <a:avLst/>
          </a:prstGeom>
          <a:solidFill>
            <a:srgbClr val="C792E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6108192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792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Lab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08192" y="26883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2D DFT · k-Space MRI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346704"/>
            <a:ext cx="2743200" cy="804672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5943600" y="3346704"/>
            <a:ext cx="45720" cy="804672"/>
          </a:xfrm>
          <a:prstGeom prst="rect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 txBox="1"/>
          <p:nvPr/>
        </p:nvSpPr>
        <p:spPr>
          <a:xfrm>
            <a:off x="6108192" y="3456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Music Lab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08192" y="37673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Sep. · DSP Mixing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8326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A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BUET · Department of CSE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8874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C2A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63" y="0"/>
            <a:ext cx="9144000" cy="5143500"/>
          </a:xfrm>
          <a:prstGeom prst="rect">
            <a:avLst/>
          </a:prstGeom>
          <a:solidFill>
            <a:srgbClr val="0D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22232" y="256032"/>
            <a:ext cx="24418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9C9F5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AUDIO LAB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22231" y="457200"/>
            <a:ext cx="6308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7ECF3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Waveform &amp; Spectral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22232" y="1024128"/>
            <a:ext cx="45783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454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Core Transform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2232" y="1243584"/>
            <a:ext cx="45783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Short-Time Fourier Transform slides a window w(n) over the signal, computing a DFT per frame — yielding magnitude and phase at every (time, frequency) bin.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2232" y="1847088"/>
            <a:ext cx="457839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550248" y="1865376"/>
            <a:ext cx="429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C9F5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X(m,k) = Σ x(n+mH)·w(n)·e(-j2πkn/N)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22232" y="2267712"/>
            <a:ext cx="45783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 = frame  ·  H = hop length  ·  N = FFT size</a:t>
            </a:r>
            <a:endParaRPr lang="en-US" sz="9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22232" y="2560320"/>
            <a:ext cx="45783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454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Magnitude vs. Phase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22232" y="2779776"/>
            <a:ext cx="4578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Reconstruct using magnitude-only (zero phase) and phase-only (unit magnitude). Magnitude carries the perceptual content — phase alone sounds like noise.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232" y="3310128"/>
            <a:ext cx="457839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550248" y="3328416"/>
            <a:ext cx="429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C9F5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X(m,k) = |X(m,k)| · e^(j·∠X(m,k))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2232" y="3822192"/>
            <a:ext cx="537198" cy="192024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422232" y="3826764"/>
            <a:ext cx="53719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33051" y="3822192"/>
            <a:ext cx="903470" cy="192024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1033051" y="3826764"/>
            <a:ext cx="9034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Windowing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73053" y="3822192"/>
            <a:ext cx="610453" cy="192024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1973053" y="3826764"/>
            <a:ext cx="61045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ISTFT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49710" y="3822192"/>
            <a:ext cx="1049979" cy="192024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 txBox="1"/>
          <p:nvPr/>
        </p:nvSpPr>
        <p:spPr>
          <a:xfrm>
            <a:off x="2649710" y="3826764"/>
            <a:ext cx="104997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Spectrogram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73584" y="896112"/>
            <a:ext cx="3858768" cy="3931920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28446" y="950976"/>
            <a:ext cx="3749040" cy="3822192"/>
          </a:xfrm>
          <a:prstGeom prst="rect">
            <a:avLst/>
          </a:prstGeom>
          <a:ln w="12700">
            <a:solidFill>
              <a:srgbClr val="1C2A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899835" y="2734056"/>
            <a:ext cx="41714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 Screenshot: Waveform + Spectrogram / Mag-Phase Tab ]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86071" y="4887468"/>
            <a:ext cx="7121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C2A44"/>
                </a:solidFill>
                <a:latin typeface="IBM Plex Mono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 / 6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6C1EF3F-DAAD-BE71-BC31-423A24C0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46" y="941832"/>
            <a:ext cx="3803906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49128" y="256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AUDIO LAB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49128" y="457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Masking · Retention · Filter &amp; EQ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49128" y="1005840"/>
            <a:ext cx="2697480" cy="2377440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49128" y="1005840"/>
            <a:ext cx="2697480" cy="36576"/>
          </a:xfrm>
          <a:prstGeom prst="rect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568000" y="1170432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Lasso Masking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8000" y="1481328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freeform polygons directly on the spectrogram to Remove or Isolate time-frequency regions.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3136" y="2103120"/>
            <a:ext cx="256946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41152" y="212140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mask(m,k) = 0  if (t,f) ∈ region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8000" y="257860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SNR · MSE · Spectral Convergence</a:t>
            </a:r>
            <a:endParaRPr lang="en-US" sz="9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68000" y="2845132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Point-in-polygon ray-casting per (time, freq) bin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9488" y="1005840"/>
            <a:ext cx="2697480" cy="2377440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3329488" y="1005840"/>
            <a:ext cx="2697480" cy="36576"/>
          </a:xfrm>
          <a:prstGeom prst="rect">
            <a:avLst/>
          </a:prstGeom>
          <a:solidFill>
            <a:srgbClr val="59C9F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3448360" y="1170432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Progressive Retention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48360" y="1481328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only the top-N magnitude bins or lowest frequencies. Sweep retention fraction 2–100% and plot SNR vs. fraction retained.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93496" y="2103120"/>
            <a:ext cx="256946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3521512" y="212140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D_ret = top-k(|X|)  or  low-freq(X)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448360" y="257860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Strategies: Low Frequency · Top Magnitude</a:t>
            </a:r>
            <a:endParaRPr lang="en-US" sz="9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448360" y="2845132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Concept: energy compaction — most signal energy lives in a small subset of coefficients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09848" y="1005840"/>
            <a:ext cx="2697480" cy="2377440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209848" y="1005840"/>
            <a:ext cx="2697480" cy="36576"/>
          </a:xfrm>
          <a:prstGeom prst="rect">
            <a:avLst/>
          </a:prstGeom>
          <a:solidFill>
            <a:srgbClr val="C792E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 txBox="1"/>
          <p:nvPr/>
        </p:nvSpPr>
        <p:spPr>
          <a:xfrm>
            <a:off x="6328720" y="1170432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792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Filter &amp; EQ Chain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28720" y="1481328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 Lowpass · Highpass · Bandpass · Notch · Custom Gain blocks, each with a freq range and optional time range.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73856" y="2103120"/>
            <a:ext cx="256946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6401872" y="212140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Y(m,k) = X(m,k) · G(k) · 1[t ∈ range]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328720" y="257860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Cosine-tapered edges to prevent Gibbs ringing</a:t>
            </a:r>
            <a:endParaRPr lang="en-US" sz="9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328720" y="2845132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EQ curve preview (gain dB vs frequency)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547872"/>
            <a:ext cx="8247888" cy="1298448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7784" y="3602736"/>
            <a:ext cx="8138160" cy="1188720"/>
          </a:xfrm>
          <a:prstGeom prst="rect">
            <a:avLst/>
          </a:prstGeom>
          <a:ln w="12700">
            <a:solidFill>
              <a:srgbClr val="1C2A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312968" y="48874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C2A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6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B9275D6-4BC2-7A59-E249-47DF0C761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3574576"/>
            <a:ext cx="2588824" cy="121709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9252E07-DFCC-BBAA-F819-8BEF959B5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122" y="3594683"/>
            <a:ext cx="2421680" cy="119379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9A4B5FF-4A2A-A8BF-2FEF-35A0DAAF7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872" y="3574576"/>
            <a:ext cx="2184344" cy="1234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792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LAB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572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MRI k-Space Reconstruction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241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792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2D DFT  →  k-Space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435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MRI acquires raw data in the frequency domain (k-space). Low spatial frequencies near center encode contrast; high frequencies at periphery encode edges.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4206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630936" y="1847088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K(u,v) = ΣΣ f(x,y)·e^(-j2π(ux/M + vy/N))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3408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Hero Feature — Lasso Masking on k-Space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56032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a freeform polygon directly on the k-space image. Ray-casting in normalized coordinates (kx, ky) ∈ [−0.5, 0.5]². Isolate or remove the region, then reconstruct via IFFT2.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1455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792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Progressive Retention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364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Retain center-radius fraction or top-magnitude k-space bins. Sweep → PSNR &amp; SSIM vs. retention %.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416966" cy="192024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502920" y="3845052"/>
            <a:ext cx="4169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29614" y="3840480"/>
            <a:ext cx="482803" cy="192024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1029614" y="3845052"/>
            <a:ext cx="4828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PSNR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22146" y="3840480"/>
            <a:ext cx="482803" cy="192024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1622146" y="3845052"/>
            <a:ext cx="4828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SSIM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14677" y="3840480"/>
            <a:ext cx="1075334" cy="192024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 txBox="1"/>
          <p:nvPr/>
        </p:nvSpPr>
        <p:spPr>
          <a:xfrm>
            <a:off x="2214677" y="3845052"/>
            <a:ext cx="107533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 Heatmap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56048" y="896112"/>
            <a:ext cx="3794760" cy="3950208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10912" y="950976"/>
            <a:ext cx="3685032" cy="3840480"/>
          </a:xfrm>
          <a:prstGeom prst="rect">
            <a:avLst/>
          </a:prstGeom>
          <a:ln w="12700">
            <a:solidFill>
              <a:srgbClr val="1C2A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366760" y="48874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C2A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/ 6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AEE3DBC-EC25-3FD1-1A9E-376C97065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999184"/>
            <a:ext cx="3687446" cy="18140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8EE1AA4-6E12-095E-6B82-8FB8D9000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354" y="2916264"/>
            <a:ext cx="3685032" cy="1814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MUSIC LAB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19" y="457200"/>
            <a:ext cx="70543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Separation &amp; Audio Mixing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4069080" cy="1920240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4069080" cy="36576"/>
          </a:xfrm>
          <a:prstGeom prst="rect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640080" y="1152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Vocal / Instrumental Separation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63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Uses Demucs — Meta's hybrid transformer model (waveform + spectrogram domain). Separates audio into vocal and instrumental stems in two-stem mode.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Neural network trained on paired data — goal matches freq-domain masking, but learned rather than hand-crafted.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87537" y="2636432"/>
            <a:ext cx="822960" cy="201168"/>
          </a:xfrm>
          <a:prstGeom prst="rect">
            <a:avLst/>
          </a:prstGeom>
          <a:solidFill>
            <a:srgbClr val="1622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3679103" y="2637239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ML Model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73168" y="987552"/>
            <a:ext cx="3977640" cy="1920240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4773168" y="987552"/>
            <a:ext cx="3977640" cy="36576"/>
          </a:xfrm>
          <a:prstGeom prst="rect">
            <a:avLst/>
          </a:prstGeom>
          <a:solidFill>
            <a:srgbClr val="59C9F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4910328" y="1152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DSP Mixing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14630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Auto-align tracks via cross-correlation, apply independent gain per stem, then mix by superposition: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8032" y="1956816"/>
            <a:ext cx="3840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4956048" y="197510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C9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y(t) = g_inst·x_inst(t) + g_voc·x_voc(t−τ)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24140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τ = argmax( x_inst ⋆ x_voc )   ·   g = 10^(GdB/20)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072384"/>
            <a:ext cx="8247888" cy="1773936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7784" y="3127248"/>
            <a:ext cx="8138160" cy="1664208"/>
          </a:xfrm>
          <a:prstGeom prst="rect">
            <a:avLst/>
          </a:prstGeom>
          <a:ln w="12700">
            <a:solidFill>
              <a:srgbClr val="1C2A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57784" y="38313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Screenshot: Music Lab — Separate Tab (original + vocal + instrumental) / Mix Tab ]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8874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C2A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6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70DB04-D6B2-5CE0-5B86-7DA08D252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127248"/>
            <a:ext cx="8138160" cy="17050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93634" y="292608"/>
            <a:ext cx="9010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Signals &amp; Linear Systems Concepts Applied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" y="877824"/>
            <a:ext cx="82478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557784" y="96012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392424" y="96012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855464" y="960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8CA0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" y="1225296"/>
            <a:ext cx="8247888" cy="347472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557784" y="1298448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Waveform &amp; STFT Spectrogram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92424" y="129844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 Lab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55464" y="129844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Short-Time Fourier Transform, Windowing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" y="1572768"/>
            <a:ext cx="8247888" cy="347472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557784" y="164592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Magnitude vs. Phase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392424" y="164592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 Lab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55464" y="164592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form of complex spectrum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" y="1920240"/>
            <a:ext cx="8247888" cy="347472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557784" y="199339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Lasso Masking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392424" y="199339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 Lab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1993392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Time-frequency masking, ISTFT reconstruction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" y="2267712"/>
            <a:ext cx="8247888" cy="347472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 txBox="1"/>
          <p:nvPr/>
        </p:nvSpPr>
        <p:spPr>
          <a:xfrm>
            <a:off x="557784" y="2340864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Progressive Retention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392424" y="234086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 Lab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55464" y="23408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Energy compaction, signal approximation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" y="2615184"/>
            <a:ext cx="8247888" cy="347472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557784" y="268833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Filter &amp; EQ Chain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392424" y="268833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 Lab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55464" y="268833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Freq-selective filtering, Convolution theorem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" y="2962656"/>
            <a:ext cx="8247888" cy="347472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557784" y="3035808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2D DFT &amp; k-Space Analysis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392424" y="303580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79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 Lab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855464" y="303580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2D Discrete Fourier Transform, spatial frequency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" y="3310128"/>
            <a:ext cx="8247888" cy="347472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 txBox="1"/>
          <p:nvPr/>
        </p:nvSpPr>
        <p:spPr>
          <a:xfrm>
            <a:off x="557784" y="338328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Lasso Masking on k-Space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392424" y="338328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79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 Lab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855464" y="338328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2D freq masking, Inverse 2D DFT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" y="3657600"/>
            <a:ext cx="8247888" cy="347472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 txBox="1"/>
          <p:nvPr/>
        </p:nvSpPr>
        <p:spPr>
          <a:xfrm>
            <a:off x="557784" y="373075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MRI Retention Sweep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392424" y="373075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79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 Lab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855464" y="3730752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Circular low-pass filtering in k-space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" y="4005072"/>
            <a:ext cx="8247888" cy="347472"/>
          </a:xfrm>
          <a:prstGeom prst="rect">
            <a:avLst/>
          </a:prstGeom>
          <a:solidFill>
            <a:srgbClr val="111A2E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 txBox="1"/>
          <p:nvPr/>
        </p:nvSpPr>
        <p:spPr>
          <a:xfrm>
            <a:off x="557784" y="4078224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Demucs Separation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392424" y="4078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B4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Music Lab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855464" y="40782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ML-based source separation (beyond DSP)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" y="4352544"/>
            <a:ext cx="8247888" cy="347472"/>
          </a:xfrm>
          <a:prstGeom prst="rect">
            <a:avLst/>
          </a:prstGeom>
          <a:solidFill>
            <a:srgbClr val="16223B"/>
          </a:solidFill>
          <a:ln w="12700">
            <a:solidFill>
              <a:srgbClr val="1C2A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 txBox="1"/>
          <p:nvPr/>
        </p:nvSpPr>
        <p:spPr>
          <a:xfrm>
            <a:off x="557784" y="442569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EC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Audio Mixing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3392424" y="442569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B4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Music Lab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855464" y="442569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Superposition, cross-correlation, gain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4700016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"Transform · Mask · Reconstruct · Measure — one framework, every domain."</a:t>
            </a:r>
            <a:endParaRPr lang="en-US" sz="1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8366760" y="48874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C2A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822</Words>
  <Application>Microsoft Office PowerPoint</Application>
  <PresentationFormat>On-screen Show (16:9)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FourierLab — CSE 220 Term Project</dc:title>
  <dc:subject>PptxGenJS Presentation</dc:subject>
  <dc:creator>PptxGenJS</dc:creator>
  <cp:lastModifiedBy>2305069 - Md. Misbah Uddin Rafi</cp:lastModifiedBy>
  <cp:revision>2</cp:revision>
  <dcterms:created xsi:type="dcterms:W3CDTF">2026-09-28T22:22:02Z</dcterms:created>
  <dcterms:modified xsi:type="dcterms:W3CDTF">2026-09-29T04:36:41Z</dcterms:modified>
</cp:coreProperties>
</file>